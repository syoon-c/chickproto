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9a33084dac4e93" /><Relationship Type="http://schemas.openxmlformats.org/officeDocument/2006/relationships/extended-properties" Target="/docProps/app.xml" Id="Rd4f59f2a0ed847da" /><Relationship Type="http://schemas.openxmlformats.org/officeDocument/2006/relationships/officeDocument" Target="/ppt/presentation.xml" Id="Rde110aab81b944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f16f7787e495e"/>
  </p:sldMasterIdLst>
  <p:notesMasterIdLst>
    <p:notesMasterId xmlns:r="http://schemas.openxmlformats.org/officeDocument/2006/relationships" r:id="Rfbd236fb3f534ea6"/>
  </p:notesMasterIdLst>
  <p:sldIdLst>
    <p:sldId xmlns:r="http://schemas.openxmlformats.org/officeDocument/2006/relationships" id="256" r:id="R0e58dbc1ba0441a7"/>
    <p:sldId xmlns:r="http://schemas.openxmlformats.org/officeDocument/2006/relationships" id="257" r:id="R16b0b83574fd4772"/>
    <p:sldId xmlns:r="http://schemas.openxmlformats.org/officeDocument/2006/relationships" id="258" r:id="R802c38b897fc4ab0"/>
    <p:sldId xmlns:r="http://schemas.openxmlformats.org/officeDocument/2006/relationships" id="259" r:id="R917e93d3cb7f4d87"/>
    <p:sldId xmlns:r="http://schemas.openxmlformats.org/officeDocument/2006/relationships" id="260" r:id="Re98e43b07cc344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88491e9d364b81" /><Relationship Type="http://schemas.openxmlformats.org/officeDocument/2006/relationships/slideMaster" Target="/ppt/slideMasters/slideMaster1.xml" Id="R871f16f7787e495e" /><Relationship Type="http://schemas.openxmlformats.org/officeDocument/2006/relationships/notesMaster" Target="/ppt/notesMasters/notesMaster1.xml" Id="Rfbd236fb3f534ea6" /><Relationship Type="http://schemas.openxmlformats.org/officeDocument/2006/relationships/presProps" Target="/ppt/presProps.xml" Id="Rbc3c5e03033942e8" /><Relationship Type="http://schemas.openxmlformats.org/officeDocument/2006/relationships/tableStyles" Target="/ppt/tableStyles.xml" Id="R2c89bc06f521472d" /><Relationship Type="http://schemas.openxmlformats.org/officeDocument/2006/relationships/slide" Target="/ppt/slides/slide1.xml" Id="R0e58dbc1ba0441a7" /><Relationship Type="http://schemas.openxmlformats.org/officeDocument/2006/relationships/slide" Target="/ppt/slides/slide2.xml" Id="R16b0b83574fd4772" /><Relationship Type="http://schemas.openxmlformats.org/officeDocument/2006/relationships/slide" Target="/ppt/slides/slide3.xml" Id="R802c38b897fc4ab0" /><Relationship Type="http://schemas.openxmlformats.org/officeDocument/2006/relationships/slide" Target="/ppt/slides/slide4.xml" Id="R917e93d3cb7f4d87" /><Relationship Type="http://schemas.openxmlformats.org/officeDocument/2006/relationships/slide" Target="/ppt/slides/slide5.xml" Id="Re98e43b07cc344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307e8690bc49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87edac18f4f95" /><Relationship Type="http://schemas.openxmlformats.org/officeDocument/2006/relationships/notesMaster" Target="/ppt/notesMasters/notesMaster1.xml" Id="Rdb97d27f0ae2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6f41aaa3a74cd9" /><Relationship Type="http://schemas.openxmlformats.org/officeDocument/2006/relationships/notesMaster" Target="/ppt/notesMasters/notesMaster1.xml" Id="R42679e0e39244e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d2ab5e22004600" /><Relationship Type="http://schemas.openxmlformats.org/officeDocument/2006/relationships/notesMaster" Target="/ppt/notesMasters/notesMaster1.xml" Id="R26ee4367613548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fd4dd046294733" /><Relationship Type="http://schemas.openxmlformats.org/officeDocument/2006/relationships/notesMaster" Target="/ppt/notesMasters/notesMaster1.xml" Id="R437acc76ccb34a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8db68ed6ed4af0" /><Relationship Type="http://schemas.openxmlformats.org/officeDocument/2006/relationships/notesMaster" Target="/ppt/notesMasters/notesMaster1.xml" Id="R60dbf886a9ad46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Slack #진짜병아리 채널, 2026-07-28 KST 대화 및 테스트 피드백 스레드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Slack #진짜병아리 채널, 2026-07-28 KST 대화 및 테스트 피드백 스레드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Slack #진짜병아리 채널, 2026-07-28 KST 대화 및 테스트 피드백 스레드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Slack #진짜병아리 채널, 2026-07-28 KST 대화 및 테스트 피드백 스레드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Slack #진짜병아리 채널, 2026-07-28 KST 대화 및 테스트 피드백 스레드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3afff5bd1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b9909dd4474236" /><Relationship Type="http://schemas.openxmlformats.org/officeDocument/2006/relationships/slideLayout" Target="/ppt/slideLayouts/slideLayout1.xml" Id="R29195c5b9f6e46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95c5b9f6e46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210860f5744a6" /><Relationship Type="http://schemas.openxmlformats.org/officeDocument/2006/relationships/notesSlide" Target="/ppt/notesSlides/notesSlide1.xml" Id="Rcf5cfd2d3c4941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cb29661614946" /><Relationship Type="http://schemas.openxmlformats.org/officeDocument/2006/relationships/notesSlide" Target="/ppt/notesSlides/notesSlide2.xml" Id="R6924d7b297ce4b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90571b115433a" /><Relationship Type="http://schemas.openxmlformats.org/officeDocument/2006/relationships/notesSlide" Target="/ppt/notesSlides/notesSlide3.xml" Id="R628bcb8d9c0f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94399f0b34aab" /><Relationship Type="http://schemas.openxmlformats.org/officeDocument/2006/relationships/notesSlide" Target="/ppt/notesSlides/notesSlide4.xml" Id="R2e2ffeaaeecc41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c798b0d044e55" /><Relationship Type="http://schemas.openxmlformats.org/officeDocument/2006/relationships/notesSlide" Target="/ppt/notesSlides/notesSlide5.xml" Id="Rd2230391a2e945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yellow-accent">
            <a:extLst xmlns:a="http://schemas.openxmlformats.org/drawingml/2006/main">
              <a:ext uri="{FF2B5EF4-FFF2-40B4-BE49-F238E27FC236}">
                <a16:creationId xmlns:a16="http://schemas.microsoft.com/office/drawing/2014/main" id="{4A17C886-9D75-487C-A611-68BC405C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F4C542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AB1C127-4473-4D67-9281-EE51E0B3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진짜병아리 · 프로토타입 점검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764997C-8D00-4B4F-BFC6-3574A3B9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해결해야 할 문제</a:t>
            </a:r>
          </a:p>
          <a:p xmlns:a="http://schemas.openxmlformats.org/drawingml/2006/main">
            <a:pPr algn="l">
              <a:defRPr sz="540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6가지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55966F8-55E7-4B6E-89DE-1C0F411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85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2026.07.28 채널 피드백 종합</a:t>
            </a:r>
          </a:p>
          <a:p xmlns:a="http://schemas.openxmlformats.org/drawingml/2006/main">
            <a:pPr algn="l">
              <a:defRPr sz="19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개인 이름 없이 의견과 해결 방향만 정리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EB5D45D8-7B56-4C68-B776-8175DB9E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4399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yellow-accent">
            <a:extLst xmlns:a="http://schemas.openxmlformats.org/drawingml/2006/main">
              <a:ext uri="{FF2B5EF4-FFF2-40B4-BE49-F238E27FC236}">
                <a16:creationId xmlns:a16="http://schemas.microsoft.com/office/drawing/2014/main" id="{41937D87-ABEC-463B-B1F9-2D3AE1F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F4C542"/>
            </a:solidFill>
            <a:prstDash val="solid"/>
          </a:ln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220E70E-CD97-4BCD-85DA-058B5CA1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핵심 경험부터 선명하게 만들어야 합니다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84C2A1E8-FF6A-4071-92F4-BB163E4D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problem-1-number">
            <a:extLst xmlns:a="http://schemas.openxmlformats.org/drawingml/2006/main">
              <a:ext uri="{FF2B5EF4-FFF2-40B4-BE49-F238E27FC236}">
                <a16:creationId xmlns:a16="http://schemas.microsoft.com/office/drawing/2014/main" id="{4CD7746D-BD28-4B01-B428-FC4D1153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problem-1-title">
            <a:extLst xmlns:a="http://schemas.openxmlformats.org/drawingml/2006/main">
              <a:ext uri="{FF2B5EF4-FFF2-40B4-BE49-F238E27FC236}">
                <a16:creationId xmlns:a16="http://schemas.microsoft.com/office/drawing/2014/main" id="{4A219378-B14E-4D87-A0A4-5C10D074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4581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레시피 획득이 밋밋함</a:t>
            </a:r>
          </a:p>
        </p:txBody>
      </p:sp>
      <p:sp>
        <p:nvSpPr>
          <p:cNvPr id="6" name="problem-1-bullets">
            <a:extLst xmlns:a="http://schemas.openxmlformats.org/drawingml/2006/main">
              <a:ext uri="{FF2B5EF4-FFF2-40B4-BE49-F238E27FC236}">
                <a16:creationId xmlns:a16="http://schemas.microsoft.com/office/drawing/2014/main" id="{7438706F-D59E-4717-BD16-6112185D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454342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자동 제작 결과처럼 느껴져 발견의 성취감이 약함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뽑기식 연출과 히든 레시피로 기대감 강화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병아리 특성과 재료·레시피를 연결</a:t>
            </a:r>
          </a:p>
        </p:txBody>
      </p:sp>
      <p:sp>
        <p:nvSpPr>
          <p:cNvPr id="7" name="center-rule-2">
            <a:extLst xmlns:a="http://schemas.openxmlformats.org/drawingml/2006/main">
              <a:ext uri="{FF2B5EF4-FFF2-40B4-BE49-F238E27FC236}">
                <a16:creationId xmlns:a16="http://schemas.microsoft.com/office/drawing/2014/main" id="{6A969F3A-6870-46CA-9970-F13B18B4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3"/>
          </a:solidFill>
          <a:ln xmlns:a="http://schemas.openxmlformats.org/drawingml/2006/main" w="0">
            <a:solidFill>
              <a:srgbClr val="F5F0E3"/>
            </a:solidFill>
            <a:prstDash val="solid"/>
          </a:ln>
        </p:spPr>
      </p:sp>
      <p:sp>
        <p:nvSpPr>
          <p:cNvPr id="8" name="problem-2-number">
            <a:extLst xmlns:a="http://schemas.openxmlformats.org/drawingml/2006/main">
              <a:ext uri="{FF2B5EF4-FFF2-40B4-BE49-F238E27FC236}">
                <a16:creationId xmlns:a16="http://schemas.microsoft.com/office/drawing/2014/main" id="{49D4B37F-A8F2-4C9B-8E05-117A35E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problem-2-title">
            <a:extLst xmlns:a="http://schemas.openxmlformats.org/drawingml/2006/main">
              <a:ext uri="{FF2B5EF4-FFF2-40B4-BE49-F238E27FC236}">
                <a16:creationId xmlns:a16="http://schemas.microsoft.com/office/drawing/2014/main" id="{41547067-F51F-4A66-9364-879A2D9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카페의 역할이 불명확함</a:t>
            </a:r>
          </a:p>
        </p:txBody>
      </p:sp>
      <p:sp>
        <p:nvSpPr>
          <p:cNvPr id="10" name="problem-2-bullets">
            <a:extLst xmlns:a="http://schemas.openxmlformats.org/drawingml/2006/main">
              <a:ext uri="{FF2B5EF4-FFF2-40B4-BE49-F238E27FC236}">
                <a16:creationId xmlns:a16="http://schemas.microsoft.com/office/drawing/2014/main" id="{F4DB3B52-78AD-406D-A127-1EF8155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46672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꾸미기와 케이크 제작 사이에서 중심 경험이 흐려짐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가구와 기능을 줄이고 작은 디저트 가게로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케이크 연구·레시피 발견을 핵심 후보로 검토</a:t>
            </a:r>
          </a:p>
        </p:txBody>
      </p:sp>
    </p:spTree>
    <p:extLst>
      <p:ext uri="{BB962C8B-B14F-4D97-AF65-F5344CB8AC3E}">
        <p14:creationId xmlns:p14="http://schemas.microsoft.com/office/powerpoint/2010/main" val="445891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yellow-accent">
            <a:extLst xmlns:a="http://schemas.openxmlformats.org/drawingml/2006/main">
              <a:ext uri="{FF2B5EF4-FFF2-40B4-BE49-F238E27FC236}">
                <a16:creationId xmlns:a16="http://schemas.microsoft.com/office/drawing/2014/main" id="{EACB81D1-CE28-4C66-9908-AA5562A4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F4C542"/>
            </a:solidFill>
            <a:prstDash val="solid"/>
          </a:ln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0A00189-330C-4827-958C-CE524FA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복잡도를 줄이고, 성장 이유를 보여줘야 합니다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61737C0-CA41-4A4A-BF8A-14C0C24F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slide-3-claim">
            <a:extLst xmlns:a="http://schemas.openxmlformats.org/drawingml/2006/main">
              <a:ext uri="{FF2B5EF4-FFF2-40B4-BE49-F238E27FC236}">
                <a16:creationId xmlns:a16="http://schemas.microsoft.com/office/drawing/2014/main" id="{EA2A6320-EF6E-425E-9B62-F7462DD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많이 넣는 것보다 핵심 경험을 돋보이게 하는 정리가 우선입니다.</a:t>
            </a:r>
          </a:p>
        </p:txBody>
      </p:sp>
      <p:sp>
        <p:nvSpPr>
          <p:cNvPr id="5" name="problem-3-band">
            <a:extLst xmlns:a="http://schemas.openxmlformats.org/drawingml/2006/main">
              <a:ext uri="{FF2B5EF4-FFF2-40B4-BE49-F238E27FC236}">
                <a16:creationId xmlns:a16="http://schemas.microsoft.com/office/drawing/2014/main" id="{F4217921-7915-4559-8F10-FBE0F882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52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0">
            <a:solidFill>
              <a:srgbClr val="FFF1B8"/>
            </a:solidFill>
            <a:prstDash val="solid"/>
          </a:ln>
        </p:spPr>
      </p:sp>
      <p:sp>
        <p:nvSpPr>
          <p:cNvPr id="6" name="problem-4-band">
            <a:extLst xmlns:a="http://schemas.openxmlformats.org/drawingml/2006/main">
              <a:ext uri="{FF2B5EF4-FFF2-40B4-BE49-F238E27FC236}">
                <a16:creationId xmlns:a16="http://schemas.microsoft.com/office/drawing/2014/main" id="{280CA5DF-8A6C-4CF8-A420-5089E824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38375"/>
            <a:ext cx="55340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0E3"/>
          </a:solidFill>
          <a:ln xmlns:a="http://schemas.openxmlformats.org/drawingml/2006/main" w="0">
            <a:solidFill>
              <a:srgbClr val="F5F0E3"/>
            </a:solidFill>
            <a:prstDash val="solid"/>
          </a:ln>
        </p:spPr>
      </p:sp>
      <p:sp>
        <p:nvSpPr>
          <p:cNvPr id="7" name="problem-3-title">
            <a:extLst xmlns:a="http://schemas.openxmlformats.org/drawingml/2006/main">
              <a:ext uri="{FF2B5EF4-FFF2-40B4-BE49-F238E27FC236}">
                <a16:creationId xmlns:a16="http://schemas.microsoft.com/office/drawing/2014/main" id="{D9358E6F-2FE5-45C3-ADE4-76937610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03  화면·시스템이 과밀함</a:t>
            </a:r>
          </a:p>
        </p:txBody>
      </p:sp>
      <p:sp>
        <p:nvSpPr>
          <p:cNvPr id="8" name="problem-4-title">
            <a:extLst xmlns:a="http://schemas.openxmlformats.org/drawingml/2006/main">
              <a:ext uri="{FF2B5EF4-FFF2-40B4-BE49-F238E27FC236}">
                <a16:creationId xmlns:a16="http://schemas.microsoft.com/office/drawing/2014/main" id="{ECF61978-8DBD-402D-8654-41FCD12A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431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04  장기 목표가 부족함</a:t>
            </a:r>
          </a:p>
        </p:txBody>
      </p:sp>
      <p:sp>
        <p:nvSpPr>
          <p:cNvPr id="9" name="problem-3-details">
            <a:extLst xmlns:a="http://schemas.openxmlformats.org/drawingml/2006/main">
              <a:ext uri="{FF2B5EF4-FFF2-40B4-BE49-F238E27FC236}">
                <a16:creationId xmlns:a16="http://schemas.microsoft.com/office/drawing/2014/main" id="{70A2DB0C-3956-4122-9B20-582035D6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팝업·재료·직원·설비가 동시에 노출됨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가구 수와 반복 클릭을 축소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직원 기능을 설비·테마에 통합</a:t>
            </a:r>
          </a:p>
        </p:txBody>
      </p:sp>
      <p:sp>
        <p:nvSpPr>
          <p:cNvPr id="10" name="problem-4-details">
            <a:extLst xmlns:a="http://schemas.openxmlformats.org/drawingml/2006/main">
              <a:ext uri="{FF2B5EF4-FFF2-40B4-BE49-F238E27FC236}">
                <a16:creationId xmlns:a16="http://schemas.microsoft.com/office/drawing/2014/main" id="{6D8EBEFF-DB37-4B69-94CE-2C7A575F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195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돈을 버는 이유와 최종 목표가 약함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승급·구역 개방·외형 변화로 성장 시각화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식당 등급 또는 요리 대결 검토</a:t>
            </a:r>
          </a:p>
        </p:txBody>
      </p:sp>
    </p:spTree>
    <p:extLst>
      <p:ext uri="{BB962C8B-B14F-4D97-AF65-F5344CB8AC3E}">
        <p14:creationId xmlns:p14="http://schemas.microsoft.com/office/powerpoint/2010/main" val="1347217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yellow-accent">
            <a:extLst xmlns:a="http://schemas.openxmlformats.org/drawingml/2006/main">
              <a:ext uri="{FF2B5EF4-FFF2-40B4-BE49-F238E27FC236}">
                <a16:creationId xmlns:a16="http://schemas.microsoft.com/office/drawing/2014/main" id="{9ACEDFEB-E388-4DD4-8FB8-EE996DC2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F4C542"/>
            </a:solidFill>
            <a:prstDash val="solid"/>
          </a:ln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BE6E2C4-CC0B-4260-BD6A-E4611E78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반복 루프에는 변화와 개연성이 필요합니다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1058F249-D200-4AA4-A1B8-9CBA87FB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problem-5-number">
            <a:extLst xmlns:a="http://schemas.openxmlformats.org/drawingml/2006/main">
              <a:ext uri="{FF2B5EF4-FFF2-40B4-BE49-F238E27FC236}">
                <a16:creationId xmlns:a16="http://schemas.microsoft.com/office/drawing/2014/main" id="{739437D4-7682-45DC-8BB8-B4B512DE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problem-5-title">
            <a:extLst xmlns:a="http://schemas.openxmlformats.org/drawingml/2006/main">
              <a:ext uri="{FF2B5EF4-FFF2-40B4-BE49-F238E27FC236}">
                <a16:creationId xmlns:a16="http://schemas.microsoft.com/office/drawing/2014/main" id="{0290B37E-C836-4377-BE53-12B32C35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4581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반복 플레이가 지루해질 수 있음</a:t>
            </a:r>
          </a:p>
        </p:txBody>
      </p:sp>
      <p:sp>
        <p:nvSpPr>
          <p:cNvPr id="6" name="problem-5-bullets">
            <a:extLst xmlns:a="http://schemas.openxmlformats.org/drawingml/2006/main">
              <a:ext uri="{FF2B5EF4-FFF2-40B4-BE49-F238E27FC236}">
                <a16:creationId xmlns:a16="http://schemas.microsoft.com/office/drawing/2014/main" id="{79C376EF-0DA2-499B-84EE-4359BDB8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454342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성장 루프는 명확하지만 동일 패턴이 계속 반복됨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확장·돌발 이벤트로 루프 안팎의 변수 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대기 시간 개입은 선택형으로 설계해 터치 피로 방지</a:t>
            </a:r>
          </a:p>
        </p:txBody>
      </p:sp>
      <p:sp>
        <p:nvSpPr>
          <p:cNvPr id="7" name="center-rule-4">
            <a:extLst xmlns:a="http://schemas.openxmlformats.org/drawingml/2006/main">
              <a:ext uri="{FF2B5EF4-FFF2-40B4-BE49-F238E27FC236}">
                <a16:creationId xmlns:a16="http://schemas.microsoft.com/office/drawing/2014/main" id="{A5A0B425-1185-499C-9378-D9FF6784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3"/>
          </a:solidFill>
          <a:ln xmlns:a="http://schemas.openxmlformats.org/drawingml/2006/main" w="0">
            <a:solidFill>
              <a:srgbClr val="F5F0E3"/>
            </a:solidFill>
            <a:prstDash val="solid"/>
          </a:ln>
        </p:spPr>
      </p:sp>
      <p:sp>
        <p:nvSpPr>
          <p:cNvPr id="8" name="problem-6-number">
            <a:extLst xmlns:a="http://schemas.openxmlformats.org/drawingml/2006/main">
              <a:ext uri="{FF2B5EF4-FFF2-40B4-BE49-F238E27FC236}">
                <a16:creationId xmlns:a16="http://schemas.microsoft.com/office/drawing/2014/main" id="{D4E547C7-13C2-4D7D-A4C3-9988C80A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problem-6-title">
            <a:extLst xmlns:a="http://schemas.openxmlformats.org/drawingml/2006/main">
              <a:ext uri="{FF2B5EF4-FFF2-40B4-BE49-F238E27FC236}">
                <a16:creationId xmlns:a16="http://schemas.microsoft.com/office/drawing/2014/main" id="{5ACD8264-CFB7-4FF1-9EDC-5AD970C4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재료 획득 설정의 근거가 약함</a:t>
            </a:r>
          </a:p>
        </p:txBody>
      </p:sp>
      <p:sp>
        <p:nvSpPr>
          <p:cNvPr id="10" name="problem-6-bullets">
            <a:extLst xmlns:a="http://schemas.openxmlformats.org/drawingml/2006/main">
              <a:ext uri="{FF2B5EF4-FFF2-40B4-BE49-F238E27FC236}">
                <a16:creationId xmlns:a16="http://schemas.microsoft.com/office/drawing/2014/main" id="{085B0C4A-8C24-41D9-AB33-34B7928B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46672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손님 병아리가 재료를 두고 가는 이유가 불분명함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캐릭터 외형·설정과 고유 재료를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• 드롭 빈도를 낮춰 화면 혼잡과 희소성을 함께 개선</a:t>
            </a:r>
          </a:p>
        </p:txBody>
      </p:sp>
    </p:spTree>
    <p:extLst>
      <p:ext uri="{BB962C8B-B14F-4D97-AF65-F5344CB8AC3E}">
        <p14:creationId xmlns:p14="http://schemas.microsoft.com/office/powerpoint/2010/main" val="1334389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yellow-accent">
            <a:extLst xmlns:a="http://schemas.openxmlformats.org/drawingml/2006/main">
              <a:ext uri="{FF2B5EF4-FFF2-40B4-BE49-F238E27FC236}">
                <a16:creationId xmlns:a16="http://schemas.microsoft.com/office/drawing/2014/main" id="{C67F03FA-C302-47E7-A2F3-ADAD287D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F4C542"/>
            </a:solidFill>
            <a:prstDash val="solid"/>
          </a:ln>
        </p:spPr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7539975-0CA8-4CAC-9821-C222D8EC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내일 회의에서는 네 가지를 먼저 합의합니다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77127FA0-EC03-4F73-81BD-35E3A289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priority-01">
            <a:extLst xmlns:a="http://schemas.openxmlformats.org/drawingml/2006/main">
              <a:ext uri="{FF2B5EF4-FFF2-40B4-BE49-F238E27FC236}">
                <a16:creationId xmlns:a16="http://schemas.microsoft.com/office/drawing/2014/main" id="{87A91C3D-CA50-4748-B098-00E436C7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priority-01-title">
            <a:extLst xmlns:a="http://schemas.openxmlformats.org/drawingml/2006/main">
              <a:ext uri="{FF2B5EF4-FFF2-40B4-BE49-F238E27FC236}">
                <a16:creationId xmlns:a16="http://schemas.microsoft.com/office/drawing/2014/main" id="{2A99CBE2-77F1-4D16-A58D-E9FF6B78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레시피 획득</a:t>
            </a:r>
          </a:p>
        </p:txBody>
      </p:sp>
      <p:sp>
        <p:nvSpPr>
          <p:cNvPr id="6" name="priority-01-body">
            <a:extLst xmlns:a="http://schemas.openxmlformats.org/drawingml/2006/main">
              <a:ext uri="{FF2B5EF4-FFF2-40B4-BE49-F238E27FC236}">
                <a16:creationId xmlns:a16="http://schemas.microsoft.com/office/drawing/2014/main" id="{D9007DA9-6E7D-4AA4-A868-267A6948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24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발견 방식 · 연출 · 히든 조건</a:t>
            </a:r>
          </a:p>
        </p:txBody>
      </p:sp>
      <p:sp>
        <p:nvSpPr>
          <p:cNvPr id="7" name="priority-02">
            <a:extLst xmlns:a="http://schemas.openxmlformats.org/drawingml/2006/main">
              <a:ext uri="{FF2B5EF4-FFF2-40B4-BE49-F238E27FC236}">
                <a16:creationId xmlns:a16="http://schemas.microsoft.com/office/drawing/2014/main" id="{923B880B-2C25-4078-8CFC-7CB19B94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52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priority-02-title">
            <a:extLst xmlns:a="http://schemas.openxmlformats.org/drawingml/2006/main">
              <a:ext uri="{FF2B5EF4-FFF2-40B4-BE49-F238E27FC236}">
                <a16:creationId xmlns:a16="http://schemas.microsoft.com/office/drawing/2014/main" id="{C2C4587A-729D-4FD3-B898-909FD52B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240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카페 정체성</a:t>
            </a:r>
          </a:p>
        </p:txBody>
      </p:sp>
      <p:sp>
        <p:nvSpPr>
          <p:cNvPr id="9" name="priority-02-body">
            <a:extLst xmlns:a="http://schemas.openxmlformats.org/drawingml/2006/main">
              <a:ext uri="{FF2B5EF4-FFF2-40B4-BE49-F238E27FC236}">
                <a16:creationId xmlns:a16="http://schemas.microsoft.com/office/drawing/2014/main" id="{EEBE505D-DD0F-4BBB-97A4-2615B84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꾸미기 vs 케이크 연구</a:t>
            </a:r>
          </a:p>
        </p:txBody>
      </p:sp>
      <p:sp>
        <p:nvSpPr>
          <p:cNvPr id="10" name="priority-03">
            <a:extLst xmlns:a="http://schemas.openxmlformats.org/drawingml/2006/main">
              <a:ext uri="{FF2B5EF4-FFF2-40B4-BE49-F238E27FC236}">
                <a16:creationId xmlns:a16="http://schemas.microsoft.com/office/drawing/2014/main" id="{DD83488D-586D-4911-8A0F-A027AF51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priority-03-title">
            <a:extLst xmlns:a="http://schemas.openxmlformats.org/drawingml/2006/main">
              <a:ext uri="{FF2B5EF4-FFF2-40B4-BE49-F238E27FC236}">
                <a16:creationId xmlns:a16="http://schemas.microsoft.com/office/drawing/2014/main" id="{76261A14-27F0-4C77-8EB1-C1FF1219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구조 정리</a:t>
            </a:r>
          </a:p>
        </p:txBody>
      </p:sp>
      <p:sp>
        <p:nvSpPr>
          <p:cNvPr id="12" name="priority-03-body">
            <a:extLst xmlns:a="http://schemas.openxmlformats.org/drawingml/2006/main">
              <a:ext uri="{FF2B5EF4-FFF2-40B4-BE49-F238E27FC236}">
                <a16:creationId xmlns:a16="http://schemas.microsoft.com/office/drawing/2014/main" id="{A0ED782D-C4FB-4986-94B7-A65D23A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직원 · 설비 · 가구 축소 범위</a:t>
            </a:r>
          </a:p>
        </p:txBody>
      </p:sp>
      <p:sp>
        <p:nvSpPr>
          <p:cNvPr id="13" name="priority-04">
            <a:extLst xmlns:a="http://schemas.openxmlformats.org/drawingml/2006/main">
              <a:ext uri="{FF2B5EF4-FFF2-40B4-BE49-F238E27FC236}">
                <a16:creationId xmlns:a16="http://schemas.microsoft.com/office/drawing/2014/main" id="{07F6B5EC-4B34-4D3E-8A82-63298234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C54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priority-04-title">
            <a:extLst xmlns:a="http://schemas.openxmlformats.org/drawingml/2006/main">
              <a:ext uri="{FF2B5EF4-FFF2-40B4-BE49-F238E27FC236}">
                <a16:creationId xmlns:a16="http://schemas.microsoft.com/office/drawing/2014/main" id="{31479D27-D5D1-47A6-BF9F-57629C9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719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1D16"/>
                </a:solidFill>
                <a:latin typeface="Malgun Gothic"/>
                <a:ea typeface="Malgun Gothic"/>
                <a:cs typeface="Malgun Gothic"/>
              </a:rPr>
              <a:t>성장 목표</a:t>
            </a:r>
          </a:p>
        </p:txBody>
      </p:sp>
      <p:sp>
        <p:nvSpPr>
          <p:cNvPr id="15" name="priority-04-body">
            <a:extLst xmlns:a="http://schemas.openxmlformats.org/drawingml/2006/main">
              <a:ext uri="{FF2B5EF4-FFF2-40B4-BE49-F238E27FC236}">
                <a16:creationId xmlns:a16="http://schemas.microsoft.com/office/drawing/2014/main" id="{DDBB040D-701B-487D-8E7A-4AA58C7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5720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승급 · 구역 · 시각적 보상</a:t>
            </a:r>
          </a:p>
        </p:txBody>
      </p:sp>
      <p:sp>
        <p:nvSpPr>
          <p:cNvPr id="16" name="meeting-note">
            <a:extLst xmlns:a="http://schemas.openxmlformats.org/drawingml/2006/main">
              <a:ext uri="{FF2B5EF4-FFF2-40B4-BE49-F238E27FC236}">
                <a16:creationId xmlns:a16="http://schemas.microsoft.com/office/drawing/2014/main" id="{30BD982B-C785-4269-8BF5-45C2841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B6558"/>
                </a:solidFill>
                <a:latin typeface="Malgun Gothic"/>
                <a:ea typeface="Malgun Gothic"/>
                <a:cs typeface="Malgun Gothic"/>
              </a:rPr>
              <a:t>바로 확정하기보다 각 항목의 선택지를 확인하고, 후속 정리 기준을 만드는 회의</a:t>
            </a:r>
          </a:p>
        </p:txBody>
      </p:sp>
    </p:spTree>
    <p:extLst>
      <p:ext uri="{BB962C8B-B14F-4D97-AF65-F5344CB8AC3E}">
        <p14:creationId xmlns:p14="http://schemas.microsoft.com/office/powerpoint/2010/main" val="500303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2026-07-28T10:01:32.2310000Z</dcterms:created>
  <dcterms:modified xsi:type="dcterms:W3CDTF">2026-07-28T10:01:32.2310000Z</dcterms:modified>
</coreProperties>
</file>